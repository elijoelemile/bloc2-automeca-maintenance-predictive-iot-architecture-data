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egoe UI"/>
              </a:rPr>
              <a:t>Architecture de données pour l'IA — AutoMeca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F5C344"/>
                </a:solidFill>
                <a:latin typeface="Segoe UI"/>
              </a:rPr>
              <a:t>Bloc 2 — Architecture hybride Edge / Cloud  ·  Dataset Microsoft Azure Predictive Maintenance  ·  OVHcloud (région UE)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24128"/>
            <a:ext cx="2377440" cy="3959352"/>
          </a:xfrm>
          <a:prstGeom prst="roundRect">
            <a:avLst>
              <a:gd name="adj" fmla="val 3500"/>
            </a:avLst>
          </a:prstGeom>
          <a:solidFill>
            <a:srgbClr val="E9F3FB"/>
          </a:solidFill>
          <a:ln w="15875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15568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2947"/>
                </a:solidFill>
                <a:latin typeface="Segoe UI"/>
              </a:rPr>
              <a:t>SOURCES DE 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444752"/>
            <a:ext cx="2048256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ear 6 7"/>
          <p:cNvSpPr/>
          <p:nvPr/>
        </p:nvSpPr>
        <p:spPr>
          <a:xfrm>
            <a:off x="612648" y="1554480"/>
            <a:ext cx="329184" cy="329184"/>
          </a:xfrm>
          <a:prstGeom prst="gear6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2947"/>
                </a:solidFill>
                <a:latin typeface="Segoe UI"/>
              </a:rPr>
              <a:t>Capteurs 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8308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55606E"/>
                </a:solidFill>
                <a:latin typeface="Segoe UI"/>
              </a:rPr>
              <a:t>Edge — site industriel (zone 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103120"/>
            <a:ext cx="19019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0A66C2"/>
                </a:solidFill>
                <a:latin typeface="Segoe UI"/>
              </a:rPr>
              <a:t>•  </a:t>
            </a:r>
            <a:r>
              <a:rPr sz="850" b="0" i="0">
                <a:solidFill>
                  <a:srgbClr val="22303F"/>
                </a:solidFill>
                <a:latin typeface="Segoe UI"/>
              </a:rPr>
              <a:t>100 machines (model1-4, 0-20 ans)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0A66C2"/>
                </a:solidFill>
                <a:latin typeface="Segoe UI"/>
              </a:rPr>
              <a:t>•  </a:t>
            </a:r>
            <a:r>
              <a:rPr sz="850" b="0" i="0">
                <a:solidFill>
                  <a:srgbClr val="22303F"/>
                </a:solidFill>
                <a:latin typeface="Segoe UI"/>
              </a:rPr>
              <a:t>Télémétrie horaire : volt, rotate, pressure, vibration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0A66C2"/>
                </a:solidFill>
                <a:latin typeface="Segoe UI"/>
              </a:rPr>
              <a:t>•  </a:t>
            </a:r>
            <a:r>
              <a:rPr sz="850" b="0" i="0">
                <a:solidFill>
                  <a:srgbClr val="22303F"/>
                </a:solidFill>
                <a:latin typeface="Segoe UI"/>
              </a:rPr>
              <a:t>Erreurs machine (error1-5), ~3 900 évts/an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0A66C2"/>
                </a:solidFill>
                <a:latin typeface="Segoe UI"/>
              </a:rPr>
              <a:t>•  </a:t>
            </a:r>
            <a:r>
              <a:rPr sz="850" b="0" i="0">
                <a:solidFill>
                  <a:srgbClr val="22303F"/>
                </a:solidFill>
                <a:latin typeface="Segoe UI"/>
              </a:rPr>
              <a:t>Prétraitement local (filtrage, agrégation) → ↓ latence/bande passante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" y="3182112"/>
            <a:ext cx="1901952" cy="9144"/>
          </a:xfrm>
          <a:prstGeom prst="rect">
            <a:avLst/>
          </a:prstGeom>
          <a:solidFill>
            <a:srgbClr val="DB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" y="3332073"/>
            <a:ext cx="54864" cy="27432"/>
          </a:xfrm>
          <a:prstGeom prst="rec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" y="3332073"/>
            <a:ext cx="54864" cy="27432"/>
          </a:xfrm>
          <a:prstGeom prst="rec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5294" y="3332073"/>
            <a:ext cx="54864" cy="27432"/>
          </a:xfrm>
          <a:prstGeom prst="rec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4768" y="3370478"/>
            <a:ext cx="54864" cy="27432"/>
          </a:xfrm>
          <a:prstGeom prst="rec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5119" y="3370478"/>
            <a:ext cx="54864" cy="27432"/>
          </a:xfrm>
          <a:prstGeom prst="rec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27355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" b="0" i="1">
                <a:solidFill>
                  <a:srgbClr val="55606E"/>
                </a:solidFill>
                <a:latin typeface="Segoe UI"/>
              </a:rPr>
              <a:t>IEC 62443 : frontière IT / 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" y="3694176"/>
            <a:ext cx="20482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cument 19"/>
          <p:cNvSpPr/>
          <p:nvPr/>
        </p:nvSpPr>
        <p:spPr>
          <a:xfrm>
            <a:off x="638982" y="3822191"/>
            <a:ext cx="239938" cy="292608"/>
          </a:xfrm>
          <a:prstGeom prst="flowChartDocumen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8039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2947"/>
                </a:solidFill>
                <a:latin typeface="Segoe UI"/>
              </a:rPr>
              <a:t>Systèmes 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03250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55606E"/>
                </a:solidFill>
                <a:latin typeface="Segoe UI"/>
              </a:rPr>
              <a:t>GMAO / ERP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" y="4352544"/>
            <a:ext cx="19019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55606E"/>
                </a:solidFill>
                <a:latin typeface="Segoe UI"/>
              </a:rPr>
              <a:t>•  </a:t>
            </a:r>
            <a:r>
              <a:rPr sz="850" b="0" i="0">
                <a:solidFill>
                  <a:srgbClr val="22303F"/>
                </a:solidFill>
                <a:latin typeface="Segoe UI"/>
              </a:rPr>
              <a:t>Maintenances + pannes (comp1-4) ; référentiel machines (100)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" y="4599432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" b="0" i="1">
                <a:solidFill>
                  <a:srgbClr val="55606E"/>
                </a:solidFill>
                <a:latin typeface="Segoe UI"/>
              </a:rPr>
              <a:t>Alimentation batch, hors capteurs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1024128"/>
            <a:ext cx="5943600" cy="3959352"/>
          </a:xfrm>
          <a:prstGeom prst="roundRect">
            <a:avLst>
              <a:gd name="adj" fmla="val 3000"/>
            </a:avLst>
          </a:prstGeom>
          <a:solidFill>
            <a:srgbClr val="FCF8EC"/>
          </a:solidFill>
          <a:ln w="19050">
            <a:solidFill>
              <a:srgbClr val="F5C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loud 25"/>
          <p:cNvSpPr/>
          <p:nvPr/>
        </p:nvSpPr>
        <p:spPr>
          <a:xfrm>
            <a:off x="3154679" y="1078992"/>
            <a:ext cx="493776" cy="329184"/>
          </a:xfrm>
          <a:prstGeom prst="cloud">
            <a:avLst/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7" y="109728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2947"/>
                </a:solidFill>
                <a:latin typeface="Segoe UI"/>
              </a:rPr>
              <a:t>OVHCLOUD — RÉGION 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7" y="131673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 i="1">
                <a:solidFill>
                  <a:srgbClr val="55606E"/>
                </a:solidFill>
                <a:latin typeface="Segoe UI"/>
              </a:rPr>
              <a:t>Cloud souverain, conforme RGPD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15544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792931" y="1783080"/>
            <a:ext cx="186537" cy="0"/>
          </a:xfrm>
          <a:prstGeom prst="line">
            <a:avLst/>
          </a:prstGeom>
          <a:ln w="2794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757269" y="1747418"/>
            <a:ext cx="71323" cy="71323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50538" y="1747418"/>
            <a:ext cx="71323" cy="71323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43807" y="1747418"/>
            <a:ext cx="71323" cy="71323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1618488"/>
            <a:ext cx="4251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0B2947"/>
                </a:solidFill>
                <a:latin typeface="Segoe UI"/>
              </a:rPr>
              <a:t>Broker d'ingestion — Kafka managé (OVHcloud)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1819656"/>
            <a:ext cx="4251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 i="1">
                <a:solidFill>
                  <a:srgbClr val="55606E"/>
                </a:solidFill>
                <a:latin typeface="Segoe UI"/>
              </a:rPr>
              <a:t>Capteurs en MQTT → pont vers Kafka — absorbe la vélocité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697480" y="1714500"/>
            <a:ext cx="914400" cy="578815"/>
          </a:xfrm>
          <a:prstGeom prst="line">
            <a:avLst/>
          </a:prstGeom>
          <a:ln w="20320">
            <a:solidFill>
              <a:srgbClr val="0A6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697480" y="1897380"/>
            <a:ext cx="914400" cy="2368296"/>
          </a:xfrm>
          <a:prstGeom prst="line">
            <a:avLst/>
          </a:prstGeom>
          <a:ln w="17780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34056" y="1964131"/>
            <a:ext cx="868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1">
                <a:solidFill>
                  <a:srgbClr val="0A66C2"/>
                </a:solidFill>
                <a:latin typeface="Segoe UI"/>
              </a:rPr>
              <a:t>VPN site-à-site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34056" y="2128723"/>
            <a:ext cx="868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0A66C2"/>
                </a:solidFill>
                <a:latin typeface="Segoe UI"/>
              </a:rPr>
              <a:t>(temps quasi-réel)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34056" y="431139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55606E"/>
                </a:solidFill>
                <a:latin typeface="Segoe UI"/>
              </a:rPr>
              <a:t>API / batch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11880" y="2194560"/>
            <a:ext cx="4937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4352544" y="2011680"/>
            <a:ext cx="0" cy="182880"/>
          </a:xfrm>
          <a:prstGeom prst="line">
            <a:avLst/>
          </a:prstGeom>
          <a:ln w="1778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loud 42"/>
          <p:cNvSpPr/>
          <p:nvPr/>
        </p:nvSpPr>
        <p:spPr>
          <a:xfrm>
            <a:off x="3680460" y="2340864"/>
            <a:ext cx="411479" cy="274320"/>
          </a:xfrm>
          <a:prstGeom prst="cloud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96512" y="2258568"/>
            <a:ext cx="42702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2947"/>
                </a:solidFill>
                <a:latin typeface="Segoe UI"/>
              </a:rPr>
              <a:t>Object Storage (S3, multi-format)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6512" y="2487168"/>
            <a:ext cx="4270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 i="0">
                <a:solidFill>
                  <a:srgbClr val="22303F"/>
                </a:solidFill>
                <a:latin typeface="Segoe UI"/>
              </a:rPr>
              <a:t>Data lake — CSV/JSON/Parquet : machines, erreurs, pannes, maintenance, télémétrie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5075" y="2834640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0" i="1">
                <a:solidFill>
                  <a:srgbClr val="55606E"/>
                </a:solidFill>
                <a:latin typeface="Segoe UI"/>
              </a:rPr>
              <a:t>Bloc 3 — pipeline d'ingestion &amp; transformation (ETL)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766310" y="2761488"/>
            <a:ext cx="178765" cy="384048"/>
          </a:xfrm>
          <a:prstGeom prst="line">
            <a:avLst/>
          </a:prstGeom>
          <a:ln w="17780">
            <a:solidFill>
              <a:srgbClr val="0A6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16444" y="2761488"/>
            <a:ext cx="178766" cy="384048"/>
          </a:xfrm>
          <a:prstGeom prst="line">
            <a:avLst/>
          </a:prstGeom>
          <a:ln w="17780">
            <a:solidFill>
              <a:srgbClr val="0A6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611880" y="3145536"/>
            <a:ext cx="23088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an 49"/>
          <p:cNvSpPr/>
          <p:nvPr/>
        </p:nvSpPr>
        <p:spPr>
          <a:xfrm>
            <a:off x="4660971" y="3255264"/>
            <a:ext cx="210677" cy="292608"/>
          </a:xfrm>
          <a:prstGeom prst="can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03320" y="3630168"/>
            <a:ext cx="21259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B2947"/>
                </a:solidFill>
                <a:latin typeface="Segoe UI"/>
              </a:rPr>
              <a:t>PostgreSQL managé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3320" y="3822192"/>
            <a:ext cx="21259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" b="0" i="1">
                <a:solidFill>
                  <a:srgbClr val="55606E"/>
                </a:solidFill>
                <a:latin typeface="Segoe UI"/>
              </a:rPr>
              <a:t>Entrepôt analytique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03320" y="4041648"/>
            <a:ext cx="2125980" cy="201168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720" b="1" i="0">
                <a:solidFill>
                  <a:srgbClr val="0B2947"/>
                </a:solidFill>
                <a:latin typeface="Segoe UI"/>
              </a:rPr>
              <a:t>Étoile (faits) + ER (staging)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03320" y="4261104"/>
            <a:ext cx="2125980" cy="164592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680" b="1" i="0">
                <a:solidFill>
                  <a:srgbClr val="0B2947"/>
                </a:solidFill>
                <a:latin typeface="Segoe UI"/>
              </a:rPr>
              <a:t>Chiffré au repos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40780" y="3145536"/>
            <a:ext cx="23088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an 55"/>
          <p:cNvSpPr/>
          <p:nvPr/>
        </p:nvSpPr>
        <p:spPr>
          <a:xfrm>
            <a:off x="7289871" y="3255264"/>
            <a:ext cx="210677" cy="292608"/>
          </a:xfrm>
          <a:prstGeom prst="can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2220" y="3630168"/>
            <a:ext cx="21259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B2947"/>
                </a:solidFill>
                <a:latin typeface="Segoe UI"/>
              </a:rPr>
              <a:t>ClickHouse managé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2220" y="3822192"/>
            <a:ext cx="21259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" b="0" i="1">
                <a:solidFill>
                  <a:srgbClr val="55606E"/>
                </a:solidFill>
                <a:latin typeface="Segoe UI"/>
              </a:rPr>
              <a:t>Analytique colonnaire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32220" y="4041648"/>
            <a:ext cx="2125980" cy="201168"/>
          </a:xfrm>
          <a:prstGeom prst="roundRect">
            <a:avLst>
              <a:gd name="adj" fmla="val 50000"/>
            </a:avLst>
          </a:prstGeom>
          <a:solidFill>
            <a:srgbClr val="E3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720" b="1" i="0">
                <a:solidFill>
                  <a:srgbClr val="2E7D5B"/>
                </a:solidFill>
                <a:latin typeface="Segoe UI"/>
              </a:rPr>
              <a:t>Série temporelle (télémétrie)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32220" y="4261104"/>
            <a:ext cx="2125980" cy="164592"/>
          </a:xfrm>
          <a:prstGeom prst="roundRect">
            <a:avLst>
              <a:gd name="adj" fmla="val 50000"/>
            </a:avLst>
          </a:prstGeom>
          <a:solidFill>
            <a:srgbClr val="E3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680" b="1" i="0">
                <a:solidFill>
                  <a:srgbClr val="2E7D5B"/>
                </a:solidFill>
                <a:latin typeface="Segoe UI"/>
              </a:rPr>
              <a:t>Chiffré au repos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64040" y="1024128"/>
            <a:ext cx="2404872" cy="3959352"/>
          </a:xfrm>
          <a:prstGeom prst="roundRect">
            <a:avLst>
              <a:gd name="adj" fmla="val 4000"/>
            </a:avLst>
          </a:prstGeom>
          <a:solidFill>
            <a:srgbClr val="EEF6EF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28632" y="1115568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B2947"/>
                </a:solidFill>
                <a:latin typeface="Segoe UI"/>
              </a:rPr>
              <a:t>CONSOMMATION 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28632" y="1335024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 i="1">
                <a:solidFill>
                  <a:srgbClr val="55606E"/>
                </a:solidFill>
                <a:latin typeface="Segoe UI"/>
              </a:rPr>
              <a:t>Aperçu — détaillé aux Blocs 3 &amp; 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28632" y="1755648"/>
            <a:ext cx="207568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ightning Bolt 64"/>
          <p:cNvSpPr/>
          <p:nvPr/>
        </p:nvSpPr>
        <p:spPr>
          <a:xfrm>
            <a:off x="10590397" y="1938528"/>
            <a:ext cx="152156" cy="292608"/>
          </a:xfrm>
          <a:prstGeom prst="lightningBol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38360" y="2395728"/>
            <a:ext cx="185623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30" b="1" i="0">
                <a:solidFill>
                  <a:srgbClr val="0B2947"/>
                </a:solidFill>
                <a:latin typeface="Segoe UI"/>
              </a:rPr>
              <a:t>Service prédictif (ML)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8360" y="2651760"/>
            <a:ext cx="185623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22303F"/>
                </a:solidFill>
                <a:latin typeface="Segoe UI"/>
              </a:rPr>
              <a:t>Entraînement / inférence maintenance prédictive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38360" y="3319272"/>
            <a:ext cx="185623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 i="1">
                <a:solidFill>
                  <a:srgbClr val="22303F"/>
                </a:solidFill>
                <a:latin typeface="Segoe UI"/>
              </a:rPr>
              <a:t>Consomme PostgreSQL (faits/dimensions) et ClickHouse (télémétrie).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28632" y="3776472"/>
            <a:ext cx="207568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789566" y="3919118"/>
            <a:ext cx="153619" cy="153619"/>
          </a:xfrm>
          <a:prstGeom prst="roundRect">
            <a:avLst/>
          </a:prstGeom>
          <a:noFill/>
          <a:ln w="304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820290" y="3890954"/>
            <a:ext cx="0" cy="28164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20290" y="4072737"/>
            <a:ext cx="0" cy="28164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866376" y="3890954"/>
            <a:ext cx="0" cy="28164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66376" y="4072737"/>
            <a:ext cx="0" cy="28164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912461" y="3890954"/>
            <a:ext cx="0" cy="28164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912461" y="4072737"/>
            <a:ext cx="0" cy="28164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049256" y="3867911"/>
            <a:ext cx="1655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0B2947"/>
                </a:solidFill>
                <a:latin typeface="Segoe UI"/>
              </a:rPr>
              <a:t>Cloud GPU (OVHcloud)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38360" y="4105656"/>
            <a:ext cx="1856231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0" b="0" i="1">
                <a:solidFill>
                  <a:srgbClr val="55606E"/>
                </a:solidFill>
                <a:latin typeface="Segoe UI"/>
              </a:rPr>
              <a:t>Cible production : cluster GPU managé (H100/L40S) pour l'entraînement. Démo réalisée en CPU local, le calcul GPU cloud étant coûteux.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8549640" y="2212848"/>
            <a:ext cx="1078992" cy="1581912"/>
          </a:xfrm>
          <a:prstGeom prst="line">
            <a:avLst/>
          </a:prstGeom>
          <a:ln w="2032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320040" y="5111496"/>
            <a:ext cx="11548872" cy="11704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397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5166359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B2947"/>
                </a:solidFill>
                <a:latin typeface="Segoe UI"/>
              </a:rPr>
              <a:t>SÉCURITÉ &amp; SUPERVISION — transverse à toute l'architecture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358341" y="5600700"/>
            <a:ext cx="233172" cy="170078"/>
          </a:xfrm>
          <a:prstGeom prst="round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Block Arc 82"/>
          <p:cNvSpPr/>
          <p:nvPr/>
        </p:nvSpPr>
        <p:spPr>
          <a:xfrm>
            <a:off x="1398117" y="5504688"/>
            <a:ext cx="153619" cy="137160"/>
          </a:xfrm>
          <a:prstGeom prst="blockArc">
            <a:avLst/>
          </a:prstGeom>
          <a:noFill/>
          <a:ln w="4064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768" y="5843016"/>
            <a:ext cx="20903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0B2947"/>
                </a:solidFill>
                <a:latin typeface="Segoe UI"/>
              </a:rPr>
              <a:t>IAM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79" y="6035040"/>
            <a:ext cx="2126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90" b="0" i="0">
                <a:solidFill>
                  <a:srgbClr val="55606E"/>
                </a:solidFill>
                <a:latin typeface="Segoe UI"/>
              </a:rPr>
              <a:t>Contrôle d'accès par rôle</a:t>
            </a:r>
          </a:p>
        </p:txBody>
      </p:sp>
      <p:sp>
        <p:nvSpPr>
          <p:cNvPr id="86" name="Oval 85"/>
          <p:cNvSpPr/>
          <p:nvPr/>
        </p:nvSpPr>
        <p:spPr>
          <a:xfrm>
            <a:off x="3669487" y="5597956"/>
            <a:ext cx="87782" cy="87782"/>
          </a:xfrm>
          <a:prstGeom prst="ellipse">
            <a:avLst/>
          </a:prstGeom>
          <a:noFill/>
          <a:ln w="3810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12133" y="5597956"/>
            <a:ext cx="87782" cy="87782"/>
          </a:xfrm>
          <a:prstGeom prst="ellipse">
            <a:avLst/>
          </a:prstGeom>
          <a:noFill/>
          <a:ln w="3810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39542" y="5843016"/>
            <a:ext cx="20903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0B2947"/>
                </a:solidFill>
                <a:latin typeface="Segoe UI"/>
              </a:rPr>
              <a:t>vRack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21254" y="6035040"/>
            <a:ext cx="2126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90" b="0" i="0">
                <a:solidFill>
                  <a:srgbClr val="55606E"/>
                </a:solidFill>
                <a:latin typeface="Segoe UI"/>
              </a:rPr>
              <a:t>Réseau privé interne (Storage ↔ Bases)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629814" y="5221224"/>
            <a:ext cx="0" cy="9692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5979261" y="5570524"/>
            <a:ext cx="142646" cy="142646"/>
          </a:xfrm>
          <a:prstGeom prst="ellipse">
            <a:avLst/>
          </a:prstGeom>
          <a:noFill/>
          <a:ln w="38100">
            <a:solidFill>
              <a:srgbClr val="F5C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6050584" y="5641848"/>
            <a:ext cx="153620" cy="0"/>
          </a:xfrm>
          <a:prstGeom prst="line">
            <a:avLst/>
          </a:prstGeom>
          <a:ln w="38100">
            <a:solidFill>
              <a:srgbClr val="F5C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171285" y="5641848"/>
            <a:ext cx="0" cy="43891"/>
          </a:xfrm>
          <a:prstGeom prst="line">
            <a:avLst/>
          </a:prstGeom>
          <a:ln w="38100">
            <a:solidFill>
              <a:srgbClr val="F5C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204204" y="5641848"/>
            <a:ext cx="0" cy="35661"/>
          </a:xfrm>
          <a:prstGeom prst="line">
            <a:avLst/>
          </a:prstGeom>
          <a:ln w="38100">
            <a:solidFill>
              <a:srgbClr val="F5C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049316" y="5843016"/>
            <a:ext cx="20903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0B2947"/>
                </a:solidFill>
                <a:latin typeface="Segoe UI"/>
              </a:rPr>
              <a:t>Chiffrement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31028" y="6035040"/>
            <a:ext cx="2126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90" b="0" i="0">
                <a:solidFill>
                  <a:srgbClr val="55606E"/>
                </a:solidFill>
                <a:latin typeface="Segoe UI"/>
              </a:rPr>
              <a:t>TLS en transit + chiffrement au repos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939588" y="5221224"/>
            <a:ext cx="0" cy="9692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8289036" y="5597956"/>
            <a:ext cx="87782" cy="87782"/>
          </a:xfrm>
          <a:prstGeom prst="ellipse">
            <a:avLst/>
          </a:prstGeom>
          <a:noFill/>
          <a:ln w="381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431682" y="5597956"/>
            <a:ext cx="87782" cy="87782"/>
          </a:xfrm>
          <a:prstGeom prst="ellipse">
            <a:avLst/>
          </a:prstGeom>
          <a:noFill/>
          <a:ln w="381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359091" y="5843016"/>
            <a:ext cx="20903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0B2947"/>
                </a:solidFill>
                <a:latin typeface="Segoe UI"/>
              </a:rPr>
              <a:t>VPN sous-traitants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40803" y="6035040"/>
            <a:ext cx="2126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90" b="0" i="0">
                <a:solidFill>
                  <a:srgbClr val="55606E"/>
                </a:solidFill>
                <a:latin typeface="Segoe UI"/>
              </a:rPr>
              <a:t>Accès distant restreint, dédié maintenance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249363" y="5221224"/>
            <a:ext cx="0" cy="9692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10576864" y="5543092"/>
            <a:ext cx="274320" cy="197510"/>
          </a:xfrm>
          <a:prstGeom prst="roundRect">
            <a:avLst/>
          </a:prstGeom>
          <a:noFill/>
          <a:ln w="38100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626242" y="5614416"/>
            <a:ext cx="43891" cy="82296"/>
          </a:xfrm>
          <a:prstGeom prst="rec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692079" y="5581497"/>
            <a:ext cx="43891" cy="115214"/>
          </a:xfrm>
          <a:prstGeom prst="rec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57916" y="5636361"/>
            <a:ext cx="43891" cy="60350"/>
          </a:xfrm>
          <a:prstGeom prst="rec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668865" y="5843016"/>
            <a:ext cx="20903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0B2947"/>
                </a:solidFill>
                <a:latin typeface="Segoe UI"/>
              </a:rPr>
              <a:t>Supervision infra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50577" y="6035040"/>
            <a:ext cx="2126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90" b="0" i="0">
                <a:solidFill>
                  <a:srgbClr val="55606E"/>
                </a:solidFill>
                <a:latin typeface="Segoe UI"/>
              </a:rPr>
              <a:t>Disponibilité passerelles, latence, alerting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559137" y="5221224"/>
            <a:ext cx="0" cy="9692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65760" y="6492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06E"/>
                </a:solidFill>
                <a:latin typeface="Segoe UI"/>
              </a:rPr>
              <a:t>Bloc 2 — Architecture de données pour l'IA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104120" y="64373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950" b="1" i="0">
                <a:solidFill>
                  <a:srgbClr val="0B2947"/>
                </a:solidFill>
                <a:latin typeface="Segoe UI"/>
              </a:rPr>
              <a:t>AutoMeca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Explication détaillée du Modèle Conceptuel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C344"/>
                </a:solidFill>
                <a:latin typeface="Segoe UI"/>
              </a:rPr>
              <a:t>en schéma étoile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F5C344"/>
                </a:solidFill>
                <a:latin typeface="Segoe UI"/>
              </a:rPr>
              <a:t>Bloc 2 — AutoMeca Systems — niveau conceptuel (Merise), traduit ensuite en schéma en étoile physique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063240"/>
            <a:ext cx="1965960" cy="987552"/>
          </a:xfrm>
          <a:prstGeom prst="rect">
            <a:avLst/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3063240"/>
            <a:ext cx="1965960" cy="29260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3401568"/>
            <a:ext cx="1709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 u="sng">
                <a:solidFill>
                  <a:srgbClr val="22303F"/>
                </a:solidFill>
                <a:latin typeface="Segoe UI"/>
              </a:rPr>
              <a:t>id_machine (id)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3602736"/>
            <a:ext cx="1709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3803904"/>
            <a:ext cx="1709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234440"/>
            <a:ext cx="2194560" cy="987552"/>
          </a:xfrm>
          <a:prstGeom prst="rect">
            <a:avLst/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234440"/>
            <a:ext cx="2194560" cy="29260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234440"/>
            <a:ext cx="201167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ERREUR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416" y="1572768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 u="sng">
                <a:solidFill>
                  <a:srgbClr val="22303F"/>
                </a:solidFill>
                <a:latin typeface="Segoe UI"/>
              </a:rPr>
              <a:t>id_erreur (id)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1773936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datetime_evt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1975104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code_erreur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386584"/>
            <a:ext cx="2194560" cy="786384"/>
          </a:xfrm>
          <a:prstGeom prst="rect">
            <a:avLst/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0" y="2386584"/>
            <a:ext cx="2194560" cy="29260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386584"/>
            <a:ext cx="201167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PANNE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724911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 u="sng">
                <a:solidFill>
                  <a:srgbClr val="22303F"/>
                </a:solidFill>
                <a:latin typeface="Segoe UI"/>
              </a:rPr>
              <a:t>id_panne (id)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2926079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datetime_evt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337560"/>
            <a:ext cx="2194560" cy="786384"/>
          </a:xfrm>
          <a:prstGeom prst="rect">
            <a:avLst/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0" y="3337560"/>
            <a:ext cx="2194560" cy="29260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3337560"/>
            <a:ext cx="201167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675887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 u="sng">
                <a:solidFill>
                  <a:srgbClr val="22303F"/>
                </a:solidFill>
                <a:latin typeface="Segoe UI"/>
              </a:rPr>
              <a:t>id_maintenance (id)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4416" y="3877055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datetime_evt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288536"/>
            <a:ext cx="2194560" cy="1591056"/>
          </a:xfrm>
          <a:prstGeom prst="rect">
            <a:avLst/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288536"/>
            <a:ext cx="2194560" cy="29260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288536"/>
            <a:ext cx="201167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RELEVÉ_TÉLÉMÉTRIE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4626864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 u="sng">
                <a:solidFill>
                  <a:srgbClr val="22303F"/>
                </a:solidFill>
                <a:latin typeface="Segoe UI"/>
              </a:rPr>
              <a:t>id_releve (id)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4416" y="4828032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datetime_mes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4416" y="5029200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volt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4416" y="5230368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rotate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14416" y="5431536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pressure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4416" y="5632704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vibration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2862072"/>
            <a:ext cx="1874519" cy="786384"/>
          </a:xfrm>
          <a:prstGeom prst="rect">
            <a:avLst/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58400" y="2862072"/>
            <a:ext cx="1874519" cy="29260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2862072"/>
            <a:ext cx="16916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COMPOSANT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6416" y="3200399"/>
            <a:ext cx="1618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 u="sng">
                <a:solidFill>
                  <a:srgbClr val="22303F"/>
                </a:solidFill>
                <a:latin typeface="Segoe UI"/>
              </a:rPr>
              <a:t>code_composant (id)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6416" y="3401568"/>
            <a:ext cx="1618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libelle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4480560"/>
            <a:ext cx="1874519" cy="987552"/>
          </a:xfrm>
          <a:prstGeom prst="rect">
            <a:avLst/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58400" y="4480560"/>
            <a:ext cx="1874519" cy="29260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4480560"/>
            <a:ext cx="16916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OPÉRATEUR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6416" y="4818888"/>
            <a:ext cx="1618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 u="sng">
                <a:solidFill>
                  <a:srgbClr val="22303F"/>
                </a:solidFill>
                <a:latin typeface="Segoe UI"/>
              </a:rPr>
              <a:t>id_operateur (id)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6416" y="5020056"/>
            <a:ext cx="1618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nom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6416" y="5221224"/>
            <a:ext cx="1618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 i="0">
                <a:solidFill>
                  <a:srgbClr val="22303F"/>
                </a:solidFill>
                <a:latin typeface="Segoe UI"/>
              </a:rPr>
              <a:t>equipe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550468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1">
                <a:solidFill>
                  <a:srgbClr val="55606E"/>
                </a:solidFill>
                <a:latin typeface="Segoe UI"/>
              </a:rPr>
              <a:t>Anticipé (GMAO) — absent du dataset source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2377440" y="1728216"/>
            <a:ext cx="3108960" cy="1472184"/>
          </a:xfrm>
          <a:prstGeom prst="line">
            <a:avLst/>
          </a:prstGeom>
          <a:ln w="15875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469794" y="279312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8245" y="173315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(1,1)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06139" y="234543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800" b="1" i="0">
                <a:solidFill>
                  <a:srgbClr val="0B2947"/>
                </a:solidFill>
                <a:latin typeface="Segoe UI"/>
              </a:rPr>
              <a:t>génère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377440" y="2779776"/>
            <a:ext cx="3108960" cy="649224"/>
          </a:xfrm>
          <a:prstGeom prst="line">
            <a:avLst/>
          </a:prstGeom>
          <a:ln w="15875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69794" y="313694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8245" y="266949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(1,1)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06139" y="298551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800" b="1" i="0">
                <a:solidFill>
                  <a:srgbClr val="0B2947"/>
                </a:solidFill>
                <a:latin typeface="Segoe UI"/>
              </a:rPr>
              <a:t>subit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377440" y="3703320"/>
            <a:ext cx="3108960" cy="27432"/>
          </a:xfrm>
          <a:prstGeom prst="line">
            <a:avLst/>
          </a:prstGeom>
          <a:ln w="15875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469794" y="350599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8245" y="352574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(1,1)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06139" y="3598163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800" b="1" i="0">
                <a:solidFill>
                  <a:srgbClr val="0B2947"/>
                </a:solidFill>
                <a:latin typeface="Segoe UI"/>
              </a:rPr>
              <a:t>reçoit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377440" y="3931920"/>
            <a:ext cx="3108960" cy="1152144"/>
          </a:xfrm>
          <a:prstGeom prst="line">
            <a:avLst/>
          </a:prstGeom>
          <a:ln w="15875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469794" y="389205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8245" y="4721595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(1,1)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06139" y="43891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800" b="1" i="0">
                <a:solidFill>
                  <a:srgbClr val="0B2947"/>
                </a:solidFill>
                <a:latin typeface="Segoe UI"/>
              </a:rPr>
              <a:t>mesurée par</a:t>
            </a:r>
          </a:p>
        </p:txBody>
      </p:sp>
      <p:cxnSp>
        <p:nvCxnSpPr>
          <p:cNvPr id="65" name="Connector 64"/>
          <p:cNvCxnSpPr/>
          <p:nvPr/>
        </p:nvCxnSpPr>
        <p:spPr>
          <a:xfrm flipH="1" flipV="1">
            <a:off x="7680960" y="2779776"/>
            <a:ext cx="2377440" cy="338328"/>
          </a:xfrm>
          <a:prstGeom prst="line">
            <a:avLst/>
          </a:prstGeom>
          <a:ln w="15875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592056" y="288310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(1,1)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90104" y="26124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(0,n)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435340" y="283006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800" b="1" i="0">
                <a:solidFill>
                  <a:srgbClr val="0B2947"/>
                </a:solidFill>
                <a:latin typeface="Segoe UI"/>
              </a:rPr>
              <a:t>concerné par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7680960" y="3392424"/>
            <a:ext cx="2377440" cy="338328"/>
          </a:xfrm>
          <a:prstGeom prst="line">
            <a:avLst/>
          </a:prstGeom>
          <a:ln w="15875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592056" y="3225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(1,1)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90104" y="349575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(0,n)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35340" y="3442716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800" b="1" i="0">
                <a:solidFill>
                  <a:srgbClr val="0B2947"/>
                </a:solidFill>
                <a:latin typeface="Segoe UI"/>
              </a:rPr>
              <a:t>concerné par</a:t>
            </a:r>
          </a:p>
        </p:txBody>
      </p:sp>
      <p:cxnSp>
        <p:nvCxnSpPr>
          <p:cNvPr id="73" name="Connector 72"/>
          <p:cNvCxnSpPr/>
          <p:nvPr/>
        </p:nvCxnSpPr>
        <p:spPr>
          <a:xfrm flipH="1" flipV="1">
            <a:off x="7680960" y="2871216"/>
            <a:ext cx="2377440" cy="1975104"/>
          </a:xfrm>
          <a:prstGeom prst="line">
            <a:avLst/>
          </a:prstGeom>
          <a:ln w="15875">
            <a:solidFill>
              <a:srgbClr val="F5C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592056" y="444764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90104" y="286755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(0,1)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389619" y="3739896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800" b="1" i="0">
                <a:solidFill>
                  <a:srgbClr val="0B2947"/>
                </a:solidFill>
                <a:latin typeface="Segoe UI"/>
              </a:rPr>
              <a:t>réalisée par</a:t>
            </a:r>
          </a:p>
        </p:txBody>
      </p:sp>
      <p:cxnSp>
        <p:nvCxnSpPr>
          <p:cNvPr id="77" name="Connector 76"/>
          <p:cNvCxnSpPr/>
          <p:nvPr/>
        </p:nvCxnSpPr>
        <p:spPr>
          <a:xfrm flipH="1" flipV="1">
            <a:off x="7680960" y="3822191"/>
            <a:ext cx="2377440" cy="1197865"/>
          </a:xfrm>
          <a:prstGeom prst="line">
            <a:avLst/>
          </a:prstGeom>
          <a:ln w="15875">
            <a:solidFill>
              <a:srgbClr val="F5C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592056" y="469910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(0,n)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90104" y="374081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A66C2"/>
                </a:solidFill>
                <a:latin typeface="Segoe UI"/>
              </a:rPr>
              <a:t>(0,1)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389619" y="4302252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5C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800" b="1" i="0">
                <a:solidFill>
                  <a:srgbClr val="0B2947"/>
                </a:solidFill>
                <a:latin typeface="Segoe UI"/>
              </a:rPr>
              <a:t>réalisée par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1480" y="6053328"/>
            <a:ext cx="11109960" cy="274320"/>
          </a:xfrm>
          <a:prstGeom prst="roundRect">
            <a:avLst>
              <a:gd name="adj" fmla="val 40000"/>
            </a:avLst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608076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i="1">
                <a:solidFill>
                  <a:srgbClr val="0B2947"/>
                </a:solidFill>
                <a:latin typeface="Segoe UI"/>
              </a:rPr>
              <a:t>Notation Merise : (min,max) — 0,n = zéro à plusieurs · 1,1 = un et un seul  |  Ce MCD reste stable même si le modèle physique (page 1) regroupe erreurs/pannes/maintenances dans une table de faits unifiée pour la performance analytique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6473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06E"/>
                </a:solidFill>
                <a:latin typeface="Segoe UI"/>
              </a:rPr>
              <a:t>Bloc 2 — Architecture de données pour l'IA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104120" y="641908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950" b="1" i="0">
                <a:solidFill>
                  <a:srgbClr val="0B2947"/>
                </a:solidFill>
                <a:latin typeface="Segoe UI"/>
              </a:rPr>
              <a:t>AutoMeca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
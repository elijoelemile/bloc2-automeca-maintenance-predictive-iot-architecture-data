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Architecture de données pour l'IA — AutoMeca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2 — Architecture hybride Edge / Cloud  ·  Dataset Microsoft Azure Predictive Maintenance  ·  OVHcloud (région UE)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024128"/>
            <a:ext cx="2377440" cy="3959352"/>
          </a:xfrm>
          <a:prstGeom prst="roundRect">
            <a:avLst>
              <a:gd name="adj" fmla="val 3500"/>
            </a:avLst>
          </a:prstGeom>
          <a:solidFill>
            <a:srgbClr val="E9F3FB"/>
          </a:solidFill>
          <a:ln w="15875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4632" y="1115568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SOURCES DE DONNÉES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" y="1444752"/>
            <a:ext cx="2048256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Gear 6 7"/>
          <p:cNvSpPr/>
          <p:nvPr/>
        </p:nvSpPr>
        <p:spPr>
          <a:xfrm>
            <a:off x="612648" y="1554480"/>
            <a:ext cx="329184" cy="329184"/>
          </a:xfrm>
          <a:prstGeom prst="gear6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5544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Capteurs IoT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783080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55606E"/>
                </a:solidFill>
                <a:latin typeface="Segoe UI"/>
              </a:rPr>
              <a:t>Edge — site industriel (zone 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103120"/>
            <a:ext cx="190195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100 machines (model1-4, 0-20 ans)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Télémétrie horaire : volt, rotate, pressure, vibration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Erreurs machine (error1-5), ~3 900 évts/an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0A66C2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Prétraitement local (filtrage, agrégation) → ↓ latence/bande passante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" y="3182112"/>
            <a:ext cx="1901952" cy="9144"/>
          </a:xfrm>
          <a:prstGeom prst="rect">
            <a:avLst/>
          </a:prstGeom>
          <a:solidFill>
            <a:srgbClr val="DB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5294" y="3332073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4768" y="3370478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5119" y="3370478"/>
            <a:ext cx="54864" cy="27432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3273552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40" b="0" i="1">
                <a:solidFill>
                  <a:srgbClr val="55606E"/>
                </a:solidFill>
                <a:latin typeface="Segoe UI"/>
              </a:rPr>
              <a:t>IEC 62443 : frontière IT / 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" y="3694176"/>
            <a:ext cx="2048256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9AA5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cument 19"/>
          <p:cNvSpPr/>
          <p:nvPr/>
        </p:nvSpPr>
        <p:spPr>
          <a:xfrm>
            <a:off x="638982" y="3822191"/>
            <a:ext cx="239938" cy="292608"/>
          </a:xfrm>
          <a:prstGeom prst="flowChartDocumen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380390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Systèmes 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032504"/>
            <a:ext cx="17373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55606E"/>
                </a:solidFill>
                <a:latin typeface="Segoe UI"/>
              </a:rPr>
              <a:t>GMAO / ERP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4352544"/>
            <a:ext cx="19019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850" b="1" i="0">
                <a:solidFill>
                  <a:srgbClr val="55606E"/>
                </a:solidFill>
                <a:latin typeface="Segoe UI"/>
              </a:rPr>
              <a:t>•  </a:t>
            </a:r>
            <a:r>
              <a:rPr sz="850" b="0" i="0">
                <a:solidFill>
                  <a:srgbClr val="22303F"/>
                </a:solidFill>
                <a:latin typeface="Segoe UI"/>
              </a:rPr>
              <a:t>Maintenances + pannes (comp1-4) ; référentiel machines (100)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" y="4599432"/>
            <a:ext cx="190195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40" b="0" i="1">
                <a:solidFill>
                  <a:srgbClr val="55606E"/>
                </a:solidFill>
                <a:latin typeface="Segoe UI"/>
              </a:rPr>
              <a:t>Alimentation batch, hors capteurs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08960" y="1024128"/>
            <a:ext cx="5943600" cy="3959352"/>
          </a:xfrm>
          <a:prstGeom prst="roundRect">
            <a:avLst>
              <a:gd name="adj" fmla="val 3000"/>
            </a:avLst>
          </a:prstGeom>
          <a:solidFill>
            <a:srgbClr val="FCF8EC"/>
          </a:solidFill>
          <a:ln w="19050">
            <a:solidFill>
              <a:srgbClr val="F5C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loud 25"/>
          <p:cNvSpPr/>
          <p:nvPr/>
        </p:nvSpPr>
        <p:spPr>
          <a:xfrm>
            <a:off x="3154679" y="1078992"/>
            <a:ext cx="493776" cy="329184"/>
          </a:xfrm>
          <a:prstGeom prst="cloud">
            <a:avLst/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75887" y="1097280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B2947"/>
                </a:solidFill>
                <a:latin typeface="Segoe UI"/>
              </a:rPr>
              <a:t>OVHCLOUD — RÉGION 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75887" y="131673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30" b="0" i="1">
                <a:solidFill>
                  <a:srgbClr val="55606E"/>
                </a:solidFill>
                <a:latin typeface="Segoe UI"/>
              </a:rPr>
              <a:t>Cloud souverain, conforme RGPD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1880" y="15544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792931" y="1783080"/>
            <a:ext cx="186537" cy="0"/>
          </a:xfrm>
          <a:prstGeom prst="line">
            <a:avLst/>
          </a:prstGeom>
          <a:ln w="2794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3757269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850538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943807" y="1747418"/>
            <a:ext cx="71323" cy="71323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0" y="1618488"/>
            <a:ext cx="4251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80" b="1" i="0">
                <a:solidFill>
                  <a:srgbClr val="0B2947"/>
                </a:solidFill>
                <a:latin typeface="Segoe UI"/>
              </a:rPr>
              <a:t>Broker d'ingestion — Kafka auto-hébergé (VM dédiée)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1819656"/>
            <a:ext cx="42519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0" i="1">
                <a:solidFill>
                  <a:srgbClr val="55606E"/>
                </a:solidFill>
                <a:latin typeface="Segoe UI"/>
              </a:rPr>
              <a:t>Capteurs en MQTT → pont vers Kafka — absorbe la vélocité</a:t>
            </a:r>
          </a:p>
        </p:txBody>
      </p:sp>
      <p:cxnSp>
        <p:nvCxnSpPr>
          <p:cNvPr id="36" name="Connector 35"/>
          <p:cNvCxnSpPr/>
          <p:nvPr/>
        </p:nvCxnSpPr>
        <p:spPr>
          <a:xfrm flipV="1">
            <a:off x="2697480" y="1714500"/>
            <a:ext cx="914400" cy="578815"/>
          </a:xfrm>
          <a:prstGeom prst="line">
            <a:avLst/>
          </a:prstGeom>
          <a:ln w="2032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697480" y="1897380"/>
            <a:ext cx="914400" cy="2368296"/>
          </a:xfrm>
          <a:prstGeom prst="line">
            <a:avLst/>
          </a:prstGeom>
          <a:ln w="17780">
            <a:solidFill>
              <a:srgbClr val="9AA5B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734056" y="1964131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1" i="1">
                <a:solidFill>
                  <a:srgbClr val="0A66C2"/>
                </a:solidFill>
                <a:latin typeface="Segoe UI"/>
              </a:rPr>
              <a:t>VPN site-à-site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34056" y="2128723"/>
            <a:ext cx="868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0A66C2"/>
                </a:solidFill>
                <a:latin typeface="Segoe UI"/>
              </a:rPr>
              <a:t>(temps quasi-réel)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34056" y="431139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1">
                <a:solidFill>
                  <a:srgbClr val="55606E"/>
                </a:solidFill>
                <a:latin typeface="Segoe UI"/>
              </a:rPr>
              <a:t>API / batch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11880" y="2194560"/>
            <a:ext cx="493776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352544" y="2011680"/>
            <a:ext cx="0" cy="182880"/>
          </a:xfrm>
          <a:prstGeom prst="line">
            <a:avLst/>
          </a:prstGeom>
          <a:ln w="1778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Cloud 42"/>
          <p:cNvSpPr/>
          <p:nvPr/>
        </p:nvSpPr>
        <p:spPr>
          <a:xfrm>
            <a:off x="3680460" y="2340864"/>
            <a:ext cx="411479" cy="274320"/>
          </a:xfrm>
          <a:prstGeom prst="cloud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96512" y="2258568"/>
            <a:ext cx="427024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0B2947"/>
                </a:solidFill>
                <a:latin typeface="Segoe UI"/>
              </a:rPr>
              <a:t>Object Storage (S3, multi-format)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96512" y="2487168"/>
            <a:ext cx="427024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60" b="0" i="0">
                <a:solidFill>
                  <a:srgbClr val="22303F"/>
                </a:solidFill>
                <a:latin typeface="Segoe UI"/>
              </a:rPr>
              <a:t>Data lake — CSV/JSON/Parquet : machines, erreurs, pannes, maintenance, télémétrie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45075" y="2834640"/>
            <a:ext cx="22713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60" b="0" i="1">
                <a:solidFill>
                  <a:srgbClr val="55606E"/>
                </a:solidFill>
                <a:latin typeface="Segoe UI"/>
              </a:rPr>
              <a:t>Bloc 3 — pipeline d'ingestion &amp; transformation (ETL)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4766310" y="2761488"/>
            <a:ext cx="178765" cy="384048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216444" y="2761488"/>
            <a:ext cx="178766" cy="384048"/>
          </a:xfrm>
          <a:prstGeom prst="line">
            <a:avLst/>
          </a:prstGeom>
          <a:ln w="17780">
            <a:solidFill>
              <a:srgbClr val="0A66C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3611880" y="3145536"/>
            <a:ext cx="230886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an 49"/>
          <p:cNvSpPr/>
          <p:nvPr/>
        </p:nvSpPr>
        <p:spPr>
          <a:xfrm>
            <a:off x="4660971" y="3255264"/>
            <a:ext cx="210677" cy="292608"/>
          </a:xfrm>
          <a:prstGeom prst="can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03320" y="3630168"/>
            <a:ext cx="21259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0B2947"/>
                </a:solidFill>
                <a:latin typeface="Segoe UI"/>
              </a:rPr>
              <a:t>PostgreSQL managé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03320" y="3822192"/>
            <a:ext cx="21259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0" i="1">
                <a:solidFill>
                  <a:srgbClr val="55606E"/>
                </a:solidFill>
                <a:latin typeface="Segoe UI"/>
              </a:rPr>
              <a:t>Entrepôt analytique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703320" y="4041648"/>
            <a:ext cx="2125980" cy="20116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720" b="1" i="0">
                <a:solidFill>
                  <a:srgbClr val="0B2947"/>
                </a:solidFill>
                <a:latin typeface="Segoe UI"/>
              </a:rPr>
              <a:t>Étoile (faits) + ER (staging)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03320" y="4261104"/>
            <a:ext cx="2125980" cy="164592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680" b="1" i="0">
                <a:solidFill>
                  <a:srgbClr val="0B2947"/>
                </a:solidFill>
                <a:latin typeface="Segoe UI"/>
              </a:rPr>
              <a:t>Chiffré au repos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40780" y="3145536"/>
            <a:ext cx="2308860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n 55"/>
          <p:cNvSpPr/>
          <p:nvPr/>
        </p:nvSpPr>
        <p:spPr>
          <a:xfrm>
            <a:off x="7289871" y="3255264"/>
            <a:ext cx="210677" cy="292608"/>
          </a:xfrm>
          <a:prstGeom prst="can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32220" y="3630168"/>
            <a:ext cx="21259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0B2947"/>
                </a:solidFill>
                <a:latin typeface="Segoe UI"/>
              </a:rPr>
              <a:t>ClickHouse (VM)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32220" y="3822192"/>
            <a:ext cx="21259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80" b="0" i="1">
                <a:solidFill>
                  <a:srgbClr val="55606E"/>
                </a:solidFill>
                <a:latin typeface="Segoe UI"/>
              </a:rPr>
              <a:t>Analytique colonnaire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32220" y="4041648"/>
            <a:ext cx="2125980" cy="201168"/>
          </a:xfrm>
          <a:prstGeom prst="roundRect">
            <a:avLst>
              <a:gd name="adj" fmla="val 50000"/>
            </a:avLst>
          </a:prstGeom>
          <a:solidFill>
            <a:srgbClr val="E3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720" b="1" i="0">
                <a:solidFill>
                  <a:srgbClr val="2E7D5B"/>
                </a:solidFill>
                <a:latin typeface="Segoe UI"/>
              </a:rPr>
              <a:t>Série temporelle (télémétrie)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332220" y="4261104"/>
            <a:ext cx="2125980" cy="164592"/>
          </a:xfrm>
          <a:prstGeom prst="roundRect">
            <a:avLst>
              <a:gd name="adj" fmla="val 50000"/>
            </a:avLst>
          </a:prstGeom>
          <a:solidFill>
            <a:srgbClr val="E3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680" b="1" i="0">
                <a:solidFill>
                  <a:srgbClr val="2E7D5B"/>
                </a:solidFill>
                <a:latin typeface="Segoe UI"/>
              </a:rPr>
              <a:t>Chiffré au repos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64040" y="1024128"/>
            <a:ext cx="2404872" cy="3959352"/>
          </a:xfrm>
          <a:prstGeom prst="roundRect">
            <a:avLst>
              <a:gd name="adj" fmla="val 4000"/>
            </a:avLst>
          </a:prstGeom>
          <a:solidFill>
            <a:srgbClr val="EEF6EF"/>
          </a:solidFill>
          <a:ln w="1587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28632" y="1115568"/>
            <a:ext cx="207568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B2947"/>
                </a:solidFill>
                <a:latin typeface="Segoe UI"/>
              </a:rPr>
              <a:t>CONSOMMATION IA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28632" y="1335024"/>
            <a:ext cx="20756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 i="1">
                <a:solidFill>
                  <a:srgbClr val="55606E"/>
                </a:solidFill>
                <a:latin typeface="Segoe UI"/>
              </a:rPr>
              <a:t>Aperçu — détaillé aux Blocs 3 &amp; 4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628632" y="1755648"/>
            <a:ext cx="207568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Lightning Bolt 64"/>
          <p:cNvSpPr/>
          <p:nvPr/>
        </p:nvSpPr>
        <p:spPr>
          <a:xfrm>
            <a:off x="10590397" y="1938528"/>
            <a:ext cx="152156" cy="292608"/>
          </a:xfrm>
          <a:prstGeom prst="lightningBol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38360" y="2395728"/>
            <a:ext cx="1856231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30" b="1" i="0">
                <a:solidFill>
                  <a:srgbClr val="0B2947"/>
                </a:solidFill>
                <a:latin typeface="Segoe UI"/>
              </a:rPr>
              <a:t>Service prédictif (ML)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38360" y="2651760"/>
            <a:ext cx="1856231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 i="0">
                <a:solidFill>
                  <a:srgbClr val="22303F"/>
                </a:solidFill>
                <a:latin typeface="Segoe UI"/>
              </a:rPr>
              <a:t>Entraînement / inférence maintenance prédictive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38360" y="3319272"/>
            <a:ext cx="1856231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 i="1">
                <a:solidFill>
                  <a:srgbClr val="22303F"/>
                </a:solidFill>
                <a:latin typeface="Segoe UI"/>
              </a:rPr>
              <a:t>Consomme PostgreSQL (faits/dimensions) et ClickHouse (télémétrie).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628632" y="3776472"/>
            <a:ext cx="207568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789566" y="3919118"/>
            <a:ext cx="153619" cy="153619"/>
          </a:xfrm>
          <a:prstGeom prst="roundRect">
            <a:avLst/>
          </a:prstGeom>
          <a:noFill/>
          <a:ln w="3048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9820290" y="3890954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820290" y="4072737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9866376" y="3890954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9866376" y="4072737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9912461" y="3890954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9912461" y="4072737"/>
            <a:ext cx="0" cy="28164"/>
          </a:xfrm>
          <a:prstGeom prst="line">
            <a:avLst/>
          </a:prstGeom>
          <a:ln w="254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10049256" y="3867911"/>
            <a:ext cx="16550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1" i="0">
                <a:solidFill>
                  <a:srgbClr val="0B2947"/>
                </a:solidFill>
                <a:latin typeface="Segoe UI"/>
              </a:rPr>
              <a:t>Cloud GPU (OVHcloud)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738360" y="4105656"/>
            <a:ext cx="1856231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90" b="0" i="1">
                <a:solidFill>
                  <a:srgbClr val="55606E"/>
                </a:solidFill>
                <a:latin typeface="Segoe UI"/>
              </a:rPr>
              <a:t>Cible production : cluster GPU managé (H100/L40S) pour l'entraînement. Démo réalisée en CPU local, le calcul GPU cloud étant coûteux.</a:t>
            </a:r>
          </a:p>
        </p:txBody>
      </p:sp>
      <p:cxnSp>
        <p:nvCxnSpPr>
          <p:cNvPr id="79" name="Connector 78"/>
          <p:cNvCxnSpPr/>
          <p:nvPr/>
        </p:nvCxnSpPr>
        <p:spPr>
          <a:xfrm flipV="1">
            <a:off x="8549640" y="2212848"/>
            <a:ext cx="1078992" cy="1581912"/>
          </a:xfrm>
          <a:prstGeom prst="line">
            <a:avLst/>
          </a:prstGeom>
          <a:ln w="20320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320040" y="5111496"/>
            <a:ext cx="11548872" cy="1170432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13970">
            <a:solidFill>
              <a:srgbClr val="DB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5166359"/>
            <a:ext cx="7315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0B2947"/>
                </a:solidFill>
                <a:latin typeface="Segoe UI"/>
              </a:rPr>
              <a:t>SÉCURITÉ &amp; SUPERVISION — transverse à toute l'architecture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358341" y="5600700"/>
            <a:ext cx="233172" cy="170078"/>
          </a:xfrm>
          <a:prstGeom prst="round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Block Arc 82"/>
          <p:cNvSpPr/>
          <p:nvPr/>
        </p:nvSpPr>
        <p:spPr>
          <a:xfrm>
            <a:off x="1398117" y="5504688"/>
            <a:ext cx="153619" cy="137160"/>
          </a:xfrm>
          <a:prstGeom prst="blockArc">
            <a:avLst/>
          </a:prstGeom>
          <a:noFill/>
          <a:ln w="4064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29768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IAM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11479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Contrôle d'accès par rôle</a:t>
            </a:r>
          </a:p>
        </p:txBody>
      </p:sp>
      <p:sp>
        <p:nvSpPr>
          <p:cNvPr id="86" name="Oval 85"/>
          <p:cNvSpPr/>
          <p:nvPr/>
        </p:nvSpPr>
        <p:spPr>
          <a:xfrm>
            <a:off x="3669487" y="5597956"/>
            <a:ext cx="87782" cy="87782"/>
          </a:xfrm>
          <a:prstGeom prst="ellipse">
            <a:avLst/>
          </a:prstGeom>
          <a:noFill/>
          <a:ln w="3810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12133" y="5597956"/>
            <a:ext cx="87782" cy="87782"/>
          </a:xfrm>
          <a:prstGeom prst="ellipse">
            <a:avLst/>
          </a:prstGeom>
          <a:noFill/>
          <a:ln w="38100">
            <a:solidFill>
              <a:srgbClr val="0A66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739542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vRack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21254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Réseau privé interne (Storage ↔ Bases)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2629814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5979261" y="5570524"/>
            <a:ext cx="142646" cy="142646"/>
          </a:xfrm>
          <a:prstGeom prst="ellipse">
            <a:avLst/>
          </a:prstGeom>
          <a:noFill/>
          <a:ln w="38100">
            <a:solidFill>
              <a:srgbClr val="F5C3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6050584" y="5641848"/>
            <a:ext cx="153620" cy="0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6171285" y="5641848"/>
            <a:ext cx="0" cy="43891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6204204" y="5641848"/>
            <a:ext cx="0" cy="35661"/>
          </a:xfrm>
          <a:prstGeom prst="line">
            <a:avLst/>
          </a:prstGeom>
          <a:ln w="3810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049316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Chiffrement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31028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TLS en transit + chiffrement au repos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939588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/>
          <p:cNvSpPr/>
          <p:nvPr/>
        </p:nvSpPr>
        <p:spPr>
          <a:xfrm>
            <a:off x="8289036" y="5597956"/>
            <a:ext cx="87782" cy="87782"/>
          </a:xfrm>
          <a:prstGeom prst="ellipse">
            <a:avLst/>
          </a:prstGeom>
          <a:noFill/>
          <a:ln w="381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431682" y="5597956"/>
            <a:ext cx="87782" cy="87782"/>
          </a:xfrm>
          <a:prstGeom prst="ellipse">
            <a:avLst/>
          </a:prstGeom>
          <a:noFill/>
          <a:ln w="381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359091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VPN sous-traitants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340803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Accès distant restreint, dédié maintenance</a:t>
            </a:r>
          </a:p>
        </p:txBody>
      </p:sp>
      <p:cxnSp>
        <p:nvCxnSpPr>
          <p:cNvPr id="102" name="Connector 101"/>
          <p:cNvCxnSpPr/>
          <p:nvPr/>
        </p:nvCxnSpPr>
        <p:spPr>
          <a:xfrm>
            <a:off x="7249363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unded Rectangle 102"/>
          <p:cNvSpPr/>
          <p:nvPr/>
        </p:nvSpPr>
        <p:spPr>
          <a:xfrm>
            <a:off x="10576864" y="5543092"/>
            <a:ext cx="274320" cy="197510"/>
          </a:xfrm>
          <a:prstGeom prst="roundRect">
            <a:avLst/>
          </a:prstGeom>
          <a:noFill/>
          <a:ln w="38100">
            <a:solidFill>
              <a:srgbClr val="55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626242" y="5614416"/>
            <a:ext cx="43891" cy="82296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692079" y="5581497"/>
            <a:ext cx="43891" cy="115214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57916" y="5636361"/>
            <a:ext cx="43891" cy="60350"/>
          </a:xfrm>
          <a:prstGeom prst="rect">
            <a:avLst/>
          </a:prstGeom>
          <a:solidFill>
            <a:srgbClr val="55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668865" y="5843016"/>
            <a:ext cx="209031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30" b="1" i="0">
                <a:solidFill>
                  <a:srgbClr val="0B2947"/>
                </a:solidFill>
                <a:latin typeface="Segoe UI"/>
              </a:rPr>
              <a:t>Supervision infra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650577" y="6035040"/>
            <a:ext cx="212689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0" b="0" i="0">
                <a:solidFill>
                  <a:srgbClr val="55606E"/>
                </a:solidFill>
                <a:latin typeface="Segoe UI"/>
              </a:rPr>
              <a:t>Disponibilité passerelles, latence, alerting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559137" y="5221224"/>
            <a:ext cx="0" cy="969264"/>
          </a:xfrm>
          <a:prstGeom prst="line">
            <a:avLst/>
          </a:prstGeom>
          <a:ln w="9525">
            <a:solidFill>
              <a:srgbClr val="DBE4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/>
          <p:cNvSpPr txBox="1"/>
          <p:nvPr/>
        </p:nvSpPr>
        <p:spPr>
          <a:xfrm>
            <a:off x="365760" y="6492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0104120" y="6437376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Modèle Conceptuel de Données (MCD)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03504"/>
            <a:ext cx="11247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F5C344"/>
                </a:solidFill>
                <a:latin typeface="Segoe UI"/>
              </a:rPr>
              <a:t>Bloc 2 — AutoMeca Systems — niveau conceptuel (Merise), indépendant de toute optimisation technique (voir page 3 pour le schéma en étoile physique)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3063240"/>
            <a:ext cx="196596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3063240"/>
            <a:ext cx="19659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MACHINE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" y="3401568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id_machine (id)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3602736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3803904"/>
            <a:ext cx="17099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1234440"/>
            <a:ext cx="219456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0" y="1234440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234440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ERREUR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14416" y="157276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id_erreur (id)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14416" y="1773936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14416" y="197510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code_erreur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2386584"/>
            <a:ext cx="2194560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0" y="2386584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0" y="2386584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PANNE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14416" y="2724911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id_panne (id)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14416" y="2926079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3337560"/>
            <a:ext cx="2194560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0" y="3337560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0" y="3337560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MAINTENANCE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14416" y="3675887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id_maintenance (id)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14416" y="3877055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0" y="4288536"/>
            <a:ext cx="2194560" cy="1591056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0" y="4288536"/>
            <a:ext cx="219456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0" y="4288536"/>
            <a:ext cx="201167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RELEVÉ_TÉLÉMÉTRIE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14416" y="462686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id_releve (id)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14416" y="4828032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datetime_mes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416" y="5029200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volt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4416" y="5230368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rotate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14416" y="5431536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pressure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14416" y="5632704"/>
            <a:ext cx="193852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vibration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2862072"/>
            <a:ext cx="1874519" cy="786384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8400" y="2862072"/>
            <a:ext cx="1874519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2862072"/>
            <a:ext cx="16916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COMPOSANT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86416" y="3200399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code_composant (id)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86416" y="3401568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libelle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4480560"/>
            <a:ext cx="1874519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058400" y="4480560"/>
            <a:ext cx="1874519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49840" y="4480560"/>
            <a:ext cx="16916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OPÉRATEUR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86416" y="4818888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id_operateur (id)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86416" y="5020056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nom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86416" y="5221224"/>
            <a:ext cx="16184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equipe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5504688"/>
            <a:ext cx="1874519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1">
                <a:solidFill>
                  <a:srgbClr val="55606E"/>
                </a:solidFill>
                <a:latin typeface="Segoe UI"/>
              </a:rPr>
              <a:t>Anticipé (GMAO) — absent du dataset source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2377440" y="1728216"/>
            <a:ext cx="3108960" cy="147218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469794" y="2793126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08245" y="1733153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06139" y="234543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génère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2377440" y="2779776"/>
            <a:ext cx="3108960" cy="64922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469794" y="3136940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8245" y="2669499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406139" y="298551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subit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77440" y="3703320"/>
            <a:ext cx="3108960" cy="27432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69794" y="350599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08245" y="3525743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406139" y="359816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reçoit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377440" y="3931920"/>
            <a:ext cx="3108960" cy="1152144"/>
          </a:xfrm>
          <a:prstGeom prst="line">
            <a:avLst/>
          </a:prstGeom>
          <a:ln w="15875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2469794" y="389205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708245" y="4721595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406139" y="43891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mesurée par</a:t>
            </a:r>
          </a:p>
        </p:txBody>
      </p:sp>
      <p:cxnSp>
        <p:nvCxnSpPr>
          <p:cNvPr id="64" name="Connector 63"/>
          <p:cNvCxnSpPr/>
          <p:nvPr/>
        </p:nvCxnSpPr>
        <p:spPr>
          <a:xfrm flipH="1" flipV="1">
            <a:off x="7680960" y="2779776"/>
            <a:ext cx="2377440" cy="338328"/>
          </a:xfrm>
          <a:prstGeom prst="line">
            <a:avLst/>
          </a:prstGeom>
          <a:ln w="15875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9592056" y="2883103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90104" y="261244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35340" y="2830068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concerné par</a:t>
            </a:r>
          </a:p>
        </p:txBody>
      </p:sp>
      <p:cxnSp>
        <p:nvCxnSpPr>
          <p:cNvPr id="68" name="Connector 67"/>
          <p:cNvCxnSpPr/>
          <p:nvPr/>
        </p:nvCxnSpPr>
        <p:spPr>
          <a:xfrm flipH="1">
            <a:off x="7680960" y="3392424"/>
            <a:ext cx="2377440" cy="338328"/>
          </a:xfrm>
          <a:prstGeom prst="line">
            <a:avLst/>
          </a:prstGeom>
          <a:ln w="15875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9592056" y="322508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(1,1)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90104" y="349575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435340" y="3442716"/>
            <a:ext cx="86868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concerné par</a:t>
            </a:r>
          </a:p>
        </p:txBody>
      </p:sp>
      <p:cxnSp>
        <p:nvCxnSpPr>
          <p:cNvPr id="72" name="Connector 71"/>
          <p:cNvCxnSpPr/>
          <p:nvPr/>
        </p:nvCxnSpPr>
        <p:spPr>
          <a:xfrm flipH="1" flipV="1">
            <a:off x="7680960" y="2871216"/>
            <a:ext cx="2377440" cy="1975104"/>
          </a:xfrm>
          <a:prstGeom prst="line">
            <a:avLst/>
          </a:prstGeom>
          <a:ln w="15875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592056" y="444764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90104" y="286755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(0,1)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89619" y="373989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réalisée par</a:t>
            </a:r>
          </a:p>
        </p:txBody>
      </p:sp>
      <p:cxnSp>
        <p:nvCxnSpPr>
          <p:cNvPr id="76" name="Connector 75"/>
          <p:cNvCxnSpPr/>
          <p:nvPr/>
        </p:nvCxnSpPr>
        <p:spPr>
          <a:xfrm flipH="1" flipV="1">
            <a:off x="7680960" y="3822191"/>
            <a:ext cx="2377440" cy="1197865"/>
          </a:xfrm>
          <a:prstGeom prst="line">
            <a:avLst/>
          </a:prstGeom>
          <a:ln w="15875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9592056" y="4699101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(0,n)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90104" y="374081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0A66C2"/>
                </a:solidFill>
                <a:latin typeface="Segoe UI"/>
              </a:rPr>
              <a:t>(0,1)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89619" y="43022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00" b="1" i="0">
                <a:solidFill>
                  <a:srgbClr val="0B2947"/>
                </a:solidFill>
                <a:latin typeface="Segoe UI"/>
              </a:rPr>
              <a:t>réalisée par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11480" y="6053328"/>
            <a:ext cx="11109960" cy="274320"/>
          </a:xfrm>
          <a:prstGeom prst="roundRect">
            <a:avLst>
              <a:gd name="adj" fmla="val 4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4360" y="6080760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1">
                <a:solidFill>
                  <a:srgbClr val="0B2947"/>
                </a:solidFill>
                <a:latin typeface="Segoe UI"/>
              </a:rPr>
              <a:t>Notation Merise : (min,max) — 0,n = zéro à plusieurs · 1,1 = un et un seul  |  Ce MCD reste stable même si le modèle physique (page 3) regroupe erreurs/pannes/maintenances dans une table de faits unifiée pour la performance analytique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5760" y="6473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104120" y="641908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Segoe UI"/>
              </a:rPr>
              <a:t>Schéma en étoile — modèle physique (PostgreSQL)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5C344"/>
                </a:solidFill>
                <a:latin typeface="Segoe UI"/>
              </a:rPr>
              <a:t>Bloc 2 — AutoMeca Systems — table de faits unifiée entourée de ses dimensions (schéma `datamart`)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0" y="2706624"/>
            <a:ext cx="2468880" cy="199339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0" y="2706624"/>
            <a:ext cx="2468880" cy="292608"/>
          </a:xfrm>
          <a:prstGeom prst="rect">
            <a:avLst/>
          </a:prstGeom>
          <a:solidFill>
            <a:srgbClr val="0A6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37760" y="2706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Segoe UI"/>
              </a:rPr>
              <a:t>FAIT_EVENEMENT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4336" y="3044951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 u="sng">
                <a:solidFill>
                  <a:srgbClr val="22303F"/>
                </a:solidFill>
                <a:latin typeface="Segoe UI"/>
              </a:rPr>
              <a:t>id_evenement (id)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74336" y="3246120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id_date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74336" y="3447287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datetime_evt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74336" y="3648456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4336" y="3849624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id_type_evenement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4336" y="4050791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4251959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id_operateur (null)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74336" y="4453127"/>
            <a:ext cx="2212848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22303F"/>
                </a:solidFill>
                <a:latin typeface="Segoe UI"/>
              </a:rPr>
              <a:t>source_fichier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109728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0" y="109728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109728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143560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id_date (id)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7216" y="163677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date_complete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216" y="183794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annee / mois / jour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3209544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3209544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209544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DIM_MACHINE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7616" y="3547871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id_machine (id)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7616" y="3749039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machine_id_nat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3950207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model, age, tranche_age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507492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92440" y="507492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507492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DIM_TYPE_EVENEMENT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0456" y="541324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id_type_evenement (id)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61441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code_type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0456" y="581558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libelle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5074920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31720" y="5074920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423160" y="5074920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DIM_CODE_EVENEMENT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59736" y="5413248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id_code (id)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59736" y="5614416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id_type_evenement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59736" y="5815584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code_brut, libelle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09544"/>
            <a:ext cx="2103120" cy="987552"/>
          </a:xfrm>
          <a:prstGeom prst="rect">
            <a:avLst/>
          </a:prstGeom>
          <a:solidFill>
            <a:srgbClr val="FFFFFF"/>
          </a:solidFill>
          <a:ln w="16510">
            <a:solidFill>
              <a:srgbClr val="0B29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209544"/>
            <a:ext cx="2103120" cy="292608"/>
          </a:xfrm>
          <a:prstGeom prst="rect">
            <a:avLst/>
          </a:prstGeom>
          <a:solidFill>
            <a:srgbClr val="0B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3209544"/>
            <a:ext cx="1920239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Segoe UI"/>
              </a:rPr>
              <a:t>DIM_OPERATEUR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3776" y="3547871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 u="sng">
                <a:solidFill>
                  <a:srgbClr val="22303F"/>
                </a:solidFill>
                <a:latin typeface="Segoe UI"/>
              </a:rPr>
              <a:t>id_operateur (id)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776" y="3749039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matricule, nom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" y="3950207"/>
            <a:ext cx="184708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30" b="0" i="0">
                <a:solidFill>
                  <a:srgbClr val="22303F"/>
                </a:solidFill>
                <a:latin typeface="Segoe UI"/>
              </a:rPr>
              <a:t>equipe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4224528"/>
            <a:ext cx="21031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1">
                <a:solidFill>
                  <a:srgbClr val="55606E"/>
                </a:solidFill>
                <a:latin typeface="Segoe UI"/>
              </a:rPr>
              <a:t>Anticipée (GMAO) — non peuplée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080760" y="2084832"/>
            <a:ext cx="0" cy="621792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315200" y="3304641"/>
            <a:ext cx="914400" cy="39867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315200" y="4401007"/>
            <a:ext cx="777240" cy="116768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4434840" y="4401007"/>
            <a:ext cx="411480" cy="1167689"/>
          </a:xfrm>
          <a:prstGeom prst="line">
            <a:avLst/>
          </a:prstGeom>
          <a:ln w="20320">
            <a:solidFill>
              <a:srgbClr val="0A66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2468879" y="3304641"/>
            <a:ext cx="2377441" cy="398679"/>
          </a:xfrm>
          <a:prstGeom prst="line">
            <a:avLst/>
          </a:prstGeom>
          <a:ln w="20320">
            <a:solidFill>
              <a:srgbClr val="F5C3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411480" y="6089904"/>
            <a:ext cx="11109960" cy="274320"/>
          </a:xfrm>
          <a:prstGeom prst="roundRect">
            <a:avLst>
              <a:gd name="adj" fmla="val 40000"/>
            </a:avLst>
          </a:prstGeom>
          <a:solidFill>
            <a:srgbClr val="FDF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85800" y="6117336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ERREUR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691640" y="6117336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PANNE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697480" y="6117336"/>
            <a:ext cx="1234440" cy="219456"/>
          </a:xfrm>
          <a:prstGeom prst="roundRect">
            <a:avLst>
              <a:gd name="adj" fmla="val 50000"/>
            </a:avLst>
          </a:prstGeom>
          <a:solidFill>
            <a:srgbClr val="F5C3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850" b="1" i="0">
                <a:solidFill>
                  <a:srgbClr val="0B2947"/>
                </a:solidFill>
                <a:latin typeface="Segoe UI"/>
              </a:rPr>
              <a:t>MAINTENANCE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069080" y="6108192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1">
                <a:solidFill>
                  <a:srgbClr val="0B2947"/>
                </a:solidFill>
                <a:latin typeface="Segoe UI"/>
              </a:rPr>
              <a:t>→ fusionnées ici en UNE table de faits, distinguées par id_type_evenement (voir page 2 pour le détail conceptuel)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739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606E"/>
                </a:solidFill>
                <a:latin typeface="Segoe UI"/>
              </a:rPr>
              <a:t>Bloc 2 — Architecture de données pour l'IA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104120" y="6419088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9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 wrap="square"/>
          <a:lstStyle/>
          <a:p>
            <a:pPr algn="ctr"/>
            <a:r>
              <a:rPr sz="950" b="1" i="0">
                <a:solidFill>
                  <a:srgbClr val="0B2947"/>
                </a:solidFill>
                <a:latin typeface="Segoe UI"/>
              </a:rPr>
              <a:t>AutoMeca Systems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
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Architecture de données pour l'IA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Architecture hybride Edge / Cloud  ·  Dataset Microsoft Azure Predictive Maintenance  ·  Cloud souverain européen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2377440" cy="3959352"/>
          </a:xfrm>
          <a:prstGeom prst="roundRect">
            <a:avLst>
              <a:gd name="adj" fmla="val 3500"/>
            </a:avLst>
          </a:prstGeom>
          <a:solidFill>
            <a:srgbClr val="E9F3FB"/>
          </a:solidFill>
          <a:ln w="15875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115568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SOURCES DE DONNÉES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1444752"/>
            <a:ext cx="204825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12648" y="1554480"/>
            <a:ext cx="329184" cy="329184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54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8308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Edge — site industriel (zone 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103120"/>
            <a:ext cx="1901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100 machines (model1-4, 0-20 ans)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Télémétrie horaire : volt, rotate, pressure, vibration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Erreurs machine (error1-5), ~3 900 évts/an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Prétraitement local (filtrage, agrégation) → ↓ latence/bande passante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3182112"/>
            <a:ext cx="1901952" cy="9144"/>
          </a:xfrm>
          <a:prstGeom prst="rect">
            <a:avLst/>
          </a:prstGeom>
          <a:solidFill>
            <a:srgbClr val="DB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529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4768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5119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273552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IEC 62443 : frontière IT / 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" y="3694176"/>
            <a:ext cx="2048256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ument 19"/>
          <p:cNvSpPr/>
          <p:nvPr/>
        </p:nvSpPr>
        <p:spPr>
          <a:xfrm>
            <a:off x="638982" y="3822191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803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Systèmes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03250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GMAO /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35254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55606E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Maintenances + pannes (comp1-4) ; référentiel machines (100)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" y="459943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Alimentation batch, hors capteurs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1024128"/>
            <a:ext cx="5943600" cy="3959352"/>
          </a:xfrm>
          <a:prstGeom prst="roundRect">
            <a:avLst>
              <a:gd name="adj" fmla="val 3000"/>
            </a:avLst>
          </a:prstGeom>
          <a:solidFill>
            <a:srgbClr val="FCF8EC"/>
          </a:solidFill>
          <a:ln w="1905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loud 25"/>
          <p:cNvSpPr/>
          <p:nvPr/>
        </p:nvSpPr>
        <p:spPr>
          <a:xfrm>
            <a:off x="3154679" y="1078992"/>
            <a:ext cx="493776" cy="329184"/>
          </a:xfrm>
          <a:prstGeom prst="cloud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7" y="109728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CLOUD SOUVERAIN EUROPÉEN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7" y="131673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1">
                <a:solidFill>
                  <a:srgbClr val="55606E"/>
                </a:solidFill>
                <a:latin typeface="Segoe UI"/>
              </a:rPr>
              <a:t>Cloud souverain, conforme RGPD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15544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792931" y="1783080"/>
            <a:ext cx="186537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757269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50538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43807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1618488"/>
            <a:ext cx="3977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1" i="0">
                <a:solidFill>
                  <a:srgbClr val="0B2947"/>
                </a:solidFill>
                <a:latin typeface="Segoe UI"/>
              </a:rPr>
              <a:t>Broker d'ingestion — Kafka (auto-hébergé)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1819656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Capteurs en MQTT → pont vers Kafka — absorbe la vélocité</a:t>
            </a:r>
          </a:p>
        </p:txBody>
      </p:sp>
      <p:sp>
        <p:nvSpPr>
          <p:cNvPr id="36" name="Oval 35"/>
          <p:cNvSpPr/>
          <p:nvPr/>
        </p:nvSpPr>
        <p:spPr>
          <a:xfrm>
            <a:off x="8229600" y="1609344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2697480" y="1714500"/>
            <a:ext cx="914400" cy="578815"/>
          </a:xfrm>
          <a:prstGeom prst="line">
            <a:avLst/>
          </a:prstGeom>
          <a:ln w="2032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7480" y="1897380"/>
            <a:ext cx="914400" cy="2368296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734056" y="1964131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i="1">
                <a:solidFill>
                  <a:srgbClr val="0A66C2"/>
                </a:solidFill>
                <a:latin typeface="Segoe UI"/>
              </a:rPr>
              <a:t>VPN site-à-site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34056" y="2128723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0A66C2"/>
                </a:solidFill>
                <a:latin typeface="Segoe UI"/>
              </a:rPr>
              <a:t>(temps quasi-réel)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34056" y="43113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API / batch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11880" y="2194560"/>
            <a:ext cx="4937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352544" y="2011680"/>
            <a:ext cx="0" cy="182880"/>
          </a:xfrm>
          <a:prstGeom prst="line">
            <a:avLst/>
          </a:prstGeom>
          <a:ln w="1778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loud 43"/>
          <p:cNvSpPr/>
          <p:nvPr/>
        </p:nvSpPr>
        <p:spPr>
          <a:xfrm>
            <a:off x="3680460" y="2340864"/>
            <a:ext cx="411479" cy="274320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96512" y="2258568"/>
            <a:ext cx="4270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2947"/>
                </a:solidFill>
                <a:latin typeface="Segoe UI"/>
              </a:rPr>
              <a:t>Object Storage (S3, multi-format)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6512" y="2487168"/>
            <a:ext cx="4270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0">
                <a:solidFill>
                  <a:srgbClr val="22303F"/>
                </a:solidFill>
                <a:latin typeface="Segoe UI"/>
              </a:rPr>
              <a:t>Data lake — CSV/JSON/Parquet : machines, erreurs, pannes, maintenance, télémétrie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075" y="2834640"/>
            <a:ext cx="22713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60" b="0" i="1">
                <a:solidFill>
                  <a:srgbClr val="55606E"/>
                </a:solidFill>
                <a:latin typeface="Segoe UI"/>
              </a:rPr>
              <a:t>Bloc 3 — pipeline d'ingestion &amp; transformation (ETL)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4766310" y="2761488"/>
            <a:ext cx="178765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16444" y="2761488"/>
            <a:ext cx="178766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6118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an 50"/>
          <p:cNvSpPr/>
          <p:nvPr/>
        </p:nvSpPr>
        <p:spPr>
          <a:xfrm>
            <a:off x="4660971" y="3255264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PostgreSQL managé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Entrepôt analytique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033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0B2947"/>
                </a:solidFill>
                <a:latin typeface="Segoe UI"/>
              </a:rPr>
              <a:t>Étoile (faits) + ER (staging)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033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0B2947"/>
                </a:solidFill>
                <a:latin typeface="Segoe UI"/>
              </a:rPr>
              <a:t>Chiffré au repos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407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n 56"/>
          <p:cNvSpPr/>
          <p:nvPr/>
        </p:nvSpPr>
        <p:spPr>
          <a:xfrm>
            <a:off x="7289871" y="3255264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22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ClickHouse (auto-hébergé)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22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Analytique colonnaire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322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2E7D5B"/>
                </a:solidFill>
                <a:latin typeface="Segoe UI"/>
              </a:rPr>
              <a:t>Série temporelle (télémétrie)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322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2E7D5B"/>
                </a:solidFill>
                <a:latin typeface="Segoe UI"/>
              </a:rPr>
              <a:t>Chiffré au repos</a:t>
            </a:r>
          </a:p>
        </p:txBody>
      </p:sp>
      <p:sp>
        <p:nvSpPr>
          <p:cNvPr id="62" name="Oval 61"/>
          <p:cNvSpPr/>
          <p:nvPr/>
        </p:nvSpPr>
        <p:spPr>
          <a:xfrm>
            <a:off x="8284464" y="3172968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63" name="Oval 62"/>
          <p:cNvSpPr/>
          <p:nvPr/>
        </p:nvSpPr>
        <p:spPr>
          <a:xfrm>
            <a:off x="3630168" y="4572000"/>
            <a:ext cx="201168" cy="201168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4572000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même instance Compute (auto-hébergée) : Kafka + ClickHouse + Grafana + API prédictive + interface de supervision (Bloc 4)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64040" y="1024128"/>
            <a:ext cx="2404872" cy="3959352"/>
          </a:xfrm>
          <a:prstGeom prst="roundRect">
            <a:avLst>
              <a:gd name="adj" fmla="val 4000"/>
            </a:avLst>
          </a:prstGeom>
          <a:solidFill>
            <a:srgbClr val="EEF6EF"/>
          </a:solidFill>
          <a:ln w="1587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28632" y="1115568"/>
            <a:ext cx="20756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B2947"/>
                </a:solidFill>
                <a:latin typeface="Segoe UI"/>
              </a:rPr>
              <a:t>CONSOMMATION IA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28632" y="1335024"/>
            <a:ext cx="20756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55606E"/>
                </a:solidFill>
                <a:latin typeface="Segoe UI"/>
              </a:rPr>
              <a:t>Aperçu — détaillé aux Blocs 3 &amp; 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628632" y="1755648"/>
            <a:ext cx="207568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Lightning Bolt 68"/>
          <p:cNvSpPr/>
          <p:nvPr/>
        </p:nvSpPr>
        <p:spPr>
          <a:xfrm>
            <a:off x="10590397" y="1938528"/>
            <a:ext cx="152156" cy="292608"/>
          </a:xfrm>
          <a:prstGeom prst="lightningBol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38360" y="2395728"/>
            <a:ext cx="185623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30" b="1" i="0">
                <a:solidFill>
                  <a:srgbClr val="0B2947"/>
                </a:solidFill>
                <a:latin typeface="Segoe UI"/>
              </a:rPr>
              <a:t>Service prédictif (ML)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38360" y="2651760"/>
            <a:ext cx="185623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22303F"/>
                </a:solidFill>
                <a:latin typeface="Segoe UI"/>
              </a:rPr>
              <a:t>API + interface de supervision (Bloc 4)</a:t>
            </a:r>
          </a:p>
        </p:txBody>
      </p:sp>
      <p:sp>
        <p:nvSpPr>
          <p:cNvPr id="72" name="Oval 71"/>
          <p:cNvSpPr/>
          <p:nvPr/>
        </p:nvSpPr>
        <p:spPr>
          <a:xfrm>
            <a:off x="11603736" y="1783080"/>
            <a:ext cx="237744" cy="237744"/>
          </a:xfrm>
          <a:prstGeom prst="ellipse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3319272"/>
            <a:ext cx="1856231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22303F"/>
                </a:solidFill>
                <a:latin typeface="Segoe UI"/>
              </a:rPr>
              <a:t>Consomme PostgreSQL (faits/dimensions) et ClickHouse (télémétrie).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628632" y="3776472"/>
            <a:ext cx="207568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789566" y="3919118"/>
            <a:ext cx="153619" cy="153619"/>
          </a:xfrm>
          <a:prstGeom prst="roundRect">
            <a:avLst/>
          </a:prstGeom>
          <a:noFill/>
          <a:ln w="3048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9820290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820290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866376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866376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912461" y="3890954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912461" y="4072737"/>
            <a:ext cx="0" cy="28164"/>
          </a:xfrm>
          <a:prstGeom prst="line">
            <a:avLst/>
          </a:prstGeom>
          <a:ln w="25400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049256" y="3867911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0B2947"/>
                </a:solidFill>
                <a:latin typeface="Segoe UI"/>
              </a:rPr>
              <a:t>Pas de GPU cloud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4105656"/>
            <a:ext cx="1856231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0" b="0" i="1">
                <a:solidFill>
                  <a:srgbClr val="55606E"/>
                </a:solidFill>
                <a:latin typeface="Segoe UI"/>
              </a:rPr>
              <a:t>Entraînement en CPU (forêts, pas de deep learning) : volumétrie et modèles ne justifient pas le coût d'un cluster GPU managé.</a:t>
            </a:r>
          </a:p>
        </p:txBody>
      </p:sp>
      <p:cxnSp>
        <p:nvCxnSpPr>
          <p:cNvPr id="84" name="Connector 83"/>
          <p:cNvCxnSpPr/>
          <p:nvPr/>
        </p:nvCxnSpPr>
        <p:spPr>
          <a:xfrm flipV="1">
            <a:off x="8549640" y="2212848"/>
            <a:ext cx="1078992" cy="1581912"/>
          </a:xfrm>
          <a:prstGeom prst="line">
            <a:avLst/>
          </a:prstGeom>
          <a:ln w="2032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320040" y="5111496"/>
            <a:ext cx="1154887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2920" y="5166359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SÉCURITÉ &amp; SUPERVISION — transverse à toute l'architecture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8341" y="5600700"/>
            <a:ext cx="233172" cy="170078"/>
          </a:xfrm>
          <a:prstGeom prst="round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Block Arc 87"/>
          <p:cNvSpPr/>
          <p:nvPr/>
        </p:nvSpPr>
        <p:spPr>
          <a:xfrm>
            <a:off x="1398117" y="5504688"/>
            <a:ext cx="153619" cy="137160"/>
          </a:xfrm>
          <a:prstGeom prst="blockArc">
            <a:avLst/>
          </a:prstGeom>
          <a:noFill/>
          <a:ln w="4064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9768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IAM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1479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Contrôle d'accès par rôle</a:t>
            </a:r>
          </a:p>
        </p:txBody>
      </p:sp>
      <p:sp>
        <p:nvSpPr>
          <p:cNvPr id="91" name="Oval 90"/>
          <p:cNvSpPr/>
          <p:nvPr/>
        </p:nvSpPr>
        <p:spPr>
          <a:xfrm>
            <a:off x="3669487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812133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39542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Réseau privé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21254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Réseau interne isolé (Storage ↔ Bases)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629814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5979261" y="5570524"/>
            <a:ext cx="142646" cy="142646"/>
          </a:xfrm>
          <a:prstGeom prst="ellipse">
            <a:avLst/>
          </a:prstGeom>
          <a:noFill/>
          <a:ln w="3810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6050584" y="5641848"/>
            <a:ext cx="153620" cy="0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171285" y="5641848"/>
            <a:ext cx="0" cy="4389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204204" y="5641848"/>
            <a:ext cx="0" cy="3566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049316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Chiffrement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31028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TLS en transit + chiffrement au repos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4939588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8289036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431682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9091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VPN sous-traitants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0803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Accès distant restreint, dédié maintenance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249363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10576864" y="5543092"/>
            <a:ext cx="274320" cy="197510"/>
          </a:xfrm>
          <a:prstGeom prst="roundRect">
            <a:avLst/>
          </a:prstGeom>
          <a:noFill/>
          <a:ln w="3810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26242" y="5614416"/>
            <a:ext cx="43891" cy="82296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2079" y="5581497"/>
            <a:ext cx="43891" cy="115214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757916" y="5636361"/>
            <a:ext cx="43891" cy="603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668865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Supervision infra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50577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Disponibilité passerelles, latence, alerting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9559137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Modèle Conceptuel de Données (MCD)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F5C344"/>
                </a:solidFill>
                <a:latin typeface="Segoe UI"/>
              </a:rPr>
              <a:t>Bloc 2 — AutoMeca Systems — niveau conceptuel (Merise), indépendant de toute optimisation technique (voir page 3 pour le schéma en étoile physique)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063240"/>
            <a:ext cx="19659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0"/>
            <a:ext cx="19659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401568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3602736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803904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34440"/>
            <a:ext cx="21945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23444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23444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ERREUR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4416" y="15727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id_erreur (id)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17739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19751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code_erreur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86584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386584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386584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PANNE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724911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id_panne (id)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926079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337560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333756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333756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3675887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id_maintenance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877055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4288536"/>
            <a:ext cx="2194560" cy="1591056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4288536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4288536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RELEVÉ_TÉLÉMÉTRIE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4416" y="462686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id_releve (id)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4416" y="4828032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5029200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volt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416" y="52303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rotate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54315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56327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vibration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862072"/>
            <a:ext cx="1874519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2862072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2862072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COMPOSANT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6416" y="3200399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code_composant (id)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6416" y="340156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480560"/>
            <a:ext cx="1874519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8400" y="4480560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4480560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OPÉRATEUR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86416" y="481888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6" y="5020056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nom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221224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550468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 (GMAO) — absent du dataset source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2377440" y="1728216"/>
            <a:ext cx="3108960" cy="147218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469794" y="279312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8245" y="173315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06139" y="234543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génère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377440" y="2779776"/>
            <a:ext cx="3108960" cy="64922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69794" y="313694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8245" y="2669499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06139" y="298551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subit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77440" y="3703320"/>
            <a:ext cx="3108960" cy="27432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69794" y="3505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08245" y="352574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06139" y="359816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reçoit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77440" y="3931920"/>
            <a:ext cx="3108960" cy="115214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69794" y="38920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8245" y="472159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06139" y="43891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mesurée par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7680960" y="2779776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592056" y="288310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90104" y="26124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35340" y="283006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7680960" y="3392424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592056" y="3225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0104" y="349575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35340" y="3442716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7680960" y="2871216"/>
            <a:ext cx="2377440" cy="1975104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592056" y="444764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90104" y="286755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89619" y="373989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cxnSp>
        <p:nvCxnSpPr>
          <p:cNvPr id="76" name="Connector 75"/>
          <p:cNvCxnSpPr/>
          <p:nvPr/>
        </p:nvCxnSpPr>
        <p:spPr>
          <a:xfrm flipH="1" flipV="1">
            <a:off x="7680960" y="3822191"/>
            <a:ext cx="2377440" cy="1197865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592056" y="469910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0104" y="37408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89619" y="43022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6053328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60807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Notation Merise : (min,max) — 0,n = zéro à plusieurs · 1,1 = un et un seul  |  Ce MCD reste stable même si le modèle physique (page 3) regroupe erreurs/pannes/maintenances dans une table de faits unifiée pour la performance analytique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Schéma en étoile — modèle physique (PostgreSQL)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AutoMeca Systems — table de faits unifiée entourée de ses dimensions (schéma `datamart`)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2706624"/>
            <a:ext cx="2468880" cy="199339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0" y="2706624"/>
            <a:ext cx="2468880" cy="292608"/>
          </a:xfrm>
          <a:prstGeom prst="rect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2706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FAIT_EVENEMENT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304495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 u="sng">
                <a:solidFill>
                  <a:srgbClr val="22303F"/>
                </a:solidFill>
                <a:latin typeface="Segoe UI"/>
              </a:rPr>
              <a:t>id_evenement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3246120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344728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336" y="3648456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3849624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405079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4251959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id_operateur (null)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445312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source_fichier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09728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09728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09728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143560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id_date (id)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3677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date_complete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83794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annee / mois / jour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machine_id_nat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model, age, tranche_age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DIM_TYPE_EVENEMENT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id_type_evenement (id)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code_type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DIM_CODE_EVENEMENT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973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id_code (id)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5973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code_brut, libelle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DIM_OPERATEUR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matricule, nom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2245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Anticipée (GMAO) — non peuplée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080760" y="2084832"/>
            <a:ext cx="0" cy="621792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3304641"/>
            <a:ext cx="914400" cy="39867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15200" y="4401007"/>
            <a:ext cx="77724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4434840" y="4401007"/>
            <a:ext cx="41148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468879" y="3304641"/>
            <a:ext cx="2377441" cy="398679"/>
          </a:xfrm>
          <a:prstGeom prst="line">
            <a:avLst/>
          </a:prstGeom>
          <a:ln w="2032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1480" y="6089904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FD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8580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ERREUR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9164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PANNE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697480" y="61173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MAINTENANCE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9080" y="6108192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→ fusionnées ici en UNE table de faits, distinguées par id_type_evenement (voir page 2 pour le détail conceptuel)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